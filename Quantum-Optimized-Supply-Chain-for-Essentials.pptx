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Arimo" panose="020B0604020202020204" pitchFamily="34" charset="0"/>
      <p:regular r:id="rId11"/>
    </p:embeddedFont>
    <p:embeddedFont>
      <p:font typeface="Syne Bold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908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6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7" Type="http://schemas.openxmlformats.org/officeDocument/2006/relationships/image" Target="../media/image11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0.svg" /><Relationship Id="rId5" Type="http://schemas.openxmlformats.org/officeDocument/2006/relationships/image" Target="../media/image9.svg" /><Relationship Id="rId4" Type="http://schemas.openxmlformats.org/officeDocument/2006/relationships/image" Target="../media/image8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335435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Quantum-Optimized Supply Chain for Essentials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7982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Where quantum intelligence meets last-mile logistics — delivering essentials faster, smarter, and at scale.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526854"/>
            <a:ext cx="1383134" cy="281136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42321" y="3607594"/>
            <a:ext cx="119658" cy="1196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1807" y="3571726"/>
            <a:ext cx="14813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PITCH DECK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27459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 We're Solving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731838"/>
            <a:ext cx="2259137" cy="1546994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881411"/>
            <a:ext cx="195999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🚛</a:t>
            </a: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Inefficient Routing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411090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Classical algorithms fail at scale — millions of routes, zero optimal solutions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731838"/>
            <a:ext cx="2259137" cy="1546994"/>
          </a:xfrm>
          <a:prstGeom prst="roundRect">
            <a:avLst>
              <a:gd name="adj" fmla="val 1451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1881411"/>
            <a:ext cx="195999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📦</a:t>
            </a: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Demand Volatility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2411090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Unpredictable spikes in essential goods leave supply chains reactive, not proactive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428405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35779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💸</a:t>
            </a: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Cost Explosion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3887688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Suboptimal logistics inflate costs by 20–30% across the essentials sector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869" y="348407"/>
            <a:ext cx="4806776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Our Quantum-First Approach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69" y="915367"/>
            <a:ext cx="4166592" cy="33332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9680" y="2215753"/>
            <a:ext cx="2729954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Simulated Quantum Annealing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09680" y="2471812"/>
            <a:ext cx="2738214" cy="4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harness quantum-inspired optimization to solve combinatorial routing problems that classical systems cannot.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05" y="4451486"/>
            <a:ext cx="171748" cy="1717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3088" y="4445794"/>
            <a:ext cx="233541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Encode supply networks as QUBO models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047" y="4451486"/>
            <a:ext cx="171748" cy="171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90330" y="4445794"/>
            <a:ext cx="2335485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Anneal toward global optimum routes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364" y="4451486"/>
            <a:ext cx="171748" cy="1717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7646" y="4445794"/>
            <a:ext cx="2335411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Re-optimize in real-time as conditions shift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22722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 Stack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561951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12295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 &amp; API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432670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FastAPI · Uvicorn · Pydantic · Streamlit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4860" y="1561951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122959"/>
            <a:ext cx="18180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 Interface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432670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HTML5 · Vanilla CSS3 · JavaScript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6143" y="1561951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122959"/>
            <a:ext cx="223591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Quantum Optimization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432670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Simulated Quantum Annealing · NumPy · NetworkX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210669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577" y="377167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GIS &amp; Geo Visuals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3577" y="408138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Folium · Streamlit-Folium · Plotly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4860" y="3210669"/>
            <a:ext cx="374005" cy="3740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84860" y="3771677"/>
            <a:ext cx="191980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Predictive AI Engine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84860" y="4081388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Scikit-learn · Pandas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796" y="360238"/>
            <a:ext cx="4618583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It All Works Together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4" y="944538"/>
            <a:ext cx="8192319" cy="3532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045" y="3814173"/>
            <a:ext cx="2633663" cy="21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Geo-Visual Dashboard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045" y="2996402"/>
            <a:ext cx="2206321" cy="21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Forecasting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045" y="2186892"/>
            <a:ext cx="2206321" cy="21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Quantum Routing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7045" y="1369121"/>
            <a:ext cx="2206321" cy="21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1796" y="4597078"/>
            <a:ext cx="8702204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End-to-end intelligence — from raw data to optimized delivery routes in seconds.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92410"/>
            <a:ext cx="3872285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Unique Selling Points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523577" y="1128489"/>
            <a:ext cx="4667845" cy="727546"/>
          </a:xfrm>
          <a:prstGeom prst="roundRect">
            <a:avLst>
              <a:gd name="adj" fmla="val 9426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9290" y="1128489"/>
            <a:ext cx="57150" cy="727546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6" name="Text 3"/>
          <p:cNvSpPr/>
          <p:nvPr/>
        </p:nvSpPr>
        <p:spPr>
          <a:xfrm>
            <a:off x="707827" y="1269876"/>
            <a:ext cx="2514674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⚡</a:t>
            </a: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Quantum Speed Advantage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07827" y="1526456"/>
            <a:ext cx="434220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10× faster route convergence vs. classical solvers at 500+ node networks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577" y="1964085"/>
            <a:ext cx="4667845" cy="915739"/>
          </a:xfrm>
          <a:prstGeom prst="roundRect">
            <a:avLst>
              <a:gd name="adj" fmla="val 7489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9290" y="1964085"/>
            <a:ext cx="57150" cy="915739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10" name="Text 7"/>
          <p:cNvSpPr/>
          <p:nvPr/>
        </p:nvSpPr>
        <p:spPr>
          <a:xfrm>
            <a:off x="707827" y="2105471"/>
            <a:ext cx="2536850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🌐</a:t>
            </a: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Zero-Dependency Frontend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7827" y="2362051"/>
            <a:ext cx="4342209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Pure HTML/CSS/JS — lightweight, deployable anywhere, no framework lock-in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3577" y="2987873"/>
            <a:ext cx="4667845" cy="727546"/>
          </a:xfrm>
          <a:prstGeom prst="roundRect">
            <a:avLst>
              <a:gd name="adj" fmla="val 9426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9290" y="2987873"/>
            <a:ext cx="57150" cy="727546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707827" y="3129260"/>
            <a:ext cx="2380952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🔮</a:t>
            </a: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Predictive + Prescriptive AI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07827" y="3385840"/>
            <a:ext cx="434220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just optimization — we forecast demand before it happens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3577" y="3823469"/>
            <a:ext cx="4667845" cy="727546"/>
          </a:xfrm>
          <a:prstGeom prst="roundRect">
            <a:avLst>
              <a:gd name="adj" fmla="val 9426"/>
            </a:avLst>
          </a:prstGeom>
          <a:solidFill>
            <a:srgbClr val="0C0A33"/>
          </a:solidFill>
          <a:ln w="14288">
            <a:solidFill>
              <a:srgbClr val="444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9290" y="3823469"/>
            <a:ext cx="57150" cy="727546"/>
          </a:xfrm>
          <a:prstGeom prst="roundRect">
            <a:avLst>
              <a:gd name="adj" fmla="val 33378"/>
            </a:avLst>
          </a:prstGeom>
          <a:solidFill>
            <a:srgbClr val="8061FF"/>
          </a:solidFill>
          <a:ln/>
        </p:spPr>
      </p:sp>
      <p:sp>
        <p:nvSpPr>
          <p:cNvPr id="18" name="Text 15"/>
          <p:cNvSpPr/>
          <p:nvPr/>
        </p:nvSpPr>
        <p:spPr>
          <a:xfrm>
            <a:off x="707827" y="3964856"/>
            <a:ext cx="1919064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📍</a:t>
            </a: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Live Geo Intelligence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07827" y="4221435"/>
            <a:ext cx="4342209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Folium maps with real-time route overlays and heatmaps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7936"/>
            <a:ext cx="504207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Impact by the Numbers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61951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10×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541041" y="2242617"/>
            <a:ext cx="191995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Faster Optimization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552328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vs. classical routing algorithms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5464" y="1561951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30%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5762848" y="22426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5464" y="255232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logistics overhead for essentials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316572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500+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1620962" y="384638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Nodes Solved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415610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a single quantum annealing pass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5464" y="316572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~0ms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5436915" y="3846388"/>
            <a:ext cx="241198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Re-optimization Latency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464" y="415610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real-time route adaptation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2000176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664544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We're building the quantum-powered backbone of essential supply chains — resilient, intelligent, and built for scale.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316</Words>
  <Application>Microsoft Office PowerPoint</Application>
  <PresentationFormat>On-screen Show (16:9)</PresentationFormat>
  <Paragraphs>65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Mahesh Ls</cp:lastModifiedBy>
  <cp:revision>2</cp:revision>
  <dcterms:created xsi:type="dcterms:W3CDTF">2026-05-23T08:20:19Z</dcterms:created>
  <dcterms:modified xsi:type="dcterms:W3CDTF">2026-05-23T08:36:02Z</dcterms:modified>
</cp:coreProperties>
</file>